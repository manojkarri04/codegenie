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28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43987" y="1590377"/>
            <a:ext cx="4455998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100"/>
              </a:lnSpc>
              <a:buNone/>
            </a:pPr>
            <a:r>
              <a:rPr lang="en-US" sz="6218" b="1" kern="0" spc="-2" dirty="0">
                <a:solidFill>
                  <a:srgbClr val="1A1A1A"/>
                </a:solidFill>
              </a:rPr>
              <a:t>CodeGenie</a:t>
            </a:r>
            <a:endParaRPr lang="en-US" sz="6218" dirty="0"/>
          </a:p>
        </p:txBody>
      </p:sp>
      <p:sp>
        <p:nvSpPr>
          <p:cNvPr id="4" name="Text 1"/>
          <p:cNvSpPr/>
          <p:nvPr/>
        </p:nvSpPr>
        <p:spPr>
          <a:xfrm>
            <a:off x="2343987" y="2901255"/>
            <a:ext cx="445599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4F46E5"/>
                </a:solidFill>
              </a:rPr>
              <a:t>Multi-Modal Offline Chatbot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343987" y="3358455"/>
            <a:ext cx="44559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Privacy-Focused, Local AI Assistant</a:t>
            </a: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B39F2-13E0-B7B7-89F0-8675F55CBF18}"/>
              </a:ext>
            </a:extLst>
          </p:cNvPr>
          <p:cNvSpPr txBox="1"/>
          <p:nvPr/>
        </p:nvSpPr>
        <p:spPr>
          <a:xfrm>
            <a:off x="3378740" y="4059677"/>
            <a:ext cx="273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Karri Manoj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288874"/>
            <a:ext cx="3929063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121" b="1" dirty="0">
                <a:solidFill>
                  <a:srgbClr val="4F46E5"/>
                </a:solidFill>
              </a:rPr>
              <a:t>A Versatile, Offline Conversational Agent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786313" y="1266620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Core Capabilities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929188" y="1643453"/>
            <a:ext cx="228477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Text-based chat</a:t>
            </a:r>
            <a:r>
              <a:rPr lang="en-US" sz="834" dirty="0">
                <a:solidFill>
                  <a:srgbClr val="333333"/>
                </a:solidFill>
              </a:rPr>
              <a:t> with intelligent responses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929188" y="1954904"/>
            <a:ext cx="188974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Document processing</a:t>
            </a:r>
            <a:r>
              <a:rPr lang="en-US" sz="834" dirty="0">
                <a:solidFill>
                  <a:srgbClr val="333333"/>
                </a:solidFill>
              </a:rPr>
              <a:t> (PDF, DOCX)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929188" y="2266355"/>
            <a:ext cx="198654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Image analysis</a:t>
            </a:r>
            <a:r>
              <a:rPr lang="en-US" sz="834" dirty="0">
                <a:solidFill>
                  <a:srgbClr val="333333"/>
                </a:solidFill>
              </a:rPr>
              <a:t> with OCR technology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929188" y="2577805"/>
            <a:ext cx="216692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Voice interaction</a:t>
            </a:r>
            <a:r>
              <a:rPr lang="en-US" sz="834" dirty="0">
                <a:solidFill>
                  <a:srgbClr val="333333"/>
                </a:solidFill>
              </a:rPr>
              <a:t> for hands-free queries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786313" y="3103569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Technology Stack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914900" y="3480402"/>
            <a:ext cx="18211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Streamlit</a:t>
            </a:r>
            <a:r>
              <a:rPr lang="en-US" sz="780" dirty="0">
                <a:solidFill>
                  <a:srgbClr val="333333"/>
                </a:solidFill>
              </a:rPr>
              <a:t> for dynamic web interface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4914900" y="3755436"/>
            <a:ext cx="176179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Ollama LLM</a:t>
            </a:r>
            <a:r>
              <a:rPr lang="en-US" sz="780" dirty="0">
                <a:solidFill>
                  <a:srgbClr val="333333"/>
                </a:solidFill>
              </a:rPr>
              <a:t> for local AI processing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914900" y="4030470"/>
            <a:ext cx="13824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EasyOCR</a:t>
            </a:r>
            <a:r>
              <a:rPr lang="en-US" sz="780" dirty="0">
                <a:solidFill>
                  <a:srgbClr val="333333"/>
                </a:solidFill>
              </a:rPr>
              <a:t> for text extraction</a:t>
            </a:r>
            <a:endParaRPr lang="en-US" sz="7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4582716" cy="471487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" name="Shape 1"/>
          <p:cNvSpPr/>
          <p:nvPr/>
        </p:nvSpPr>
        <p:spPr>
          <a:xfrm>
            <a:off x="4561284" y="428625"/>
            <a:ext cx="21431" cy="47148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1632012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6B6B"/>
                </a:solidFill>
              </a:rPr>
              <a:t>The Challenge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357188" y="1949909"/>
            <a:ext cx="3857625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Over-Reliance on External Services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500063" y="2797113"/>
            <a:ext cx="28470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Dependency on cloud-based AI services for routine tasks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00063" y="3082863"/>
            <a:ext cx="30171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Privacy concerns</a:t>
            </a:r>
            <a:r>
              <a:rPr lang="en-US" sz="780" dirty="0">
                <a:solidFill>
                  <a:srgbClr val="333333"/>
                </a:solidFill>
              </a:rPr>
              <a:t> with data transmission to external servers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00063" y="3368613"/>
            <a:ext cx="20274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Requires constant </a:t>
            </a:r>
            <a:r>
              <a:rPr lang="en-US" sz="734" b="1" dirty="0">
                <a:solidFill>
                  <a:srgbClr val="1A1A1A"/>
                </a:solidFill>
              </a:rPr>
              <a:t>internet connectivity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00063" y="3654363"/>
            <a:ext cx="20577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Limited control over data and processing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572000" y="428625"/>
            <a:ext cx="4572000" cy="4714875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2" name="Text 9"/>
          <p:cNvSpPr/>
          <p:nvPr/>
        </p:nvSpPr>
        <p:spPr>
          <a:xfrm>
            <a:off x="4929188" y="1632012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4F46E5"/>
                </a:solidFill>
              </a:rPr>
              <a:t>The Solution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929188" y="1949909"/>
            <a:ext cx="3857625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CodeGenie: Self-Contained Local Bot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5072063" y="2797113"/>
            <a:ext cx="2021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Offline capability</a:t>
            </a:r>
            <a:r>
              <a:rPr lang="en-US" sz="780" dirty="0">
                <a:solidFill>
                  <a:srgbClr val="333333"/>
                </a:solidFill>
              </a:rPr>
              <a:t> with local Ollama LLM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5072063" y="3082863"/>
            <a:ext cx="24601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Complete </a:t>
            </a:r>
            <a:r>
              <a:rPr lang="en-US" sz="734" b="1" dirty="0">
                <a:solidFill>
                  <a:srgbClr val="1A1A1A"/>
                </a:solidFill>
              </a:rPr>
              <a:t>data privacy</a:t>
            </a:r>
            <a:r>
              <a:rPr lang="en-US" sz="780" dirty="0">
                <a:solidFill>
                  <a:srgbClr val="333333"/>
                </a:solidFill>
              </a:rPr>
              <a:t> – conversations stay local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5072063" y="3368613"/>
            <a:ext cx="22326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Multi-modal input</a:t>
            </a:r>
            <a:r>
              <a:rPr lang="en-US" sz="780" dirty="0">
                <a:solidFill>
                  <a:srgbClr val="333333"/>
                </a:solidFill>
              </a:rPr>
              <a:t> – text, PDF, images, voice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5072063" y="3654363"/>
            <a:ext cx="2228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Reduces dependency on external AI services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7188"/>
            <a:ext cx="9144000" cy="408980"/>
          </a:xfrm>
          <a:prstGeom prst="rect">
            <a:avLst/>
          </a:prstGeom>
          <a:noFill/>
          <a:ln/>
        </p:spPr>
        <p:txBody>
          <a:bodyPr wrap="none" lIns="510286" tIns="0" rIns="510286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F46E5"/>
                </a:solidFill>
              </a:rPr>
              <a:t>Streamlit and Local LLM Integration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1051917"/>
            <a:ext cx="2571750" cy="32146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F46E5"/>
                </a:solidFill>
              </a:rPr>
              <a:t>Frontend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42925" y="1516261"/>
            <a:ext cx="18542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Streamlit UI</a:t>
            </a:r>
            <a:r>
              <a:rPr lang="en-US" sz="727" dirty="0">
                <a:solidFill>
                  <a:srgbClr val="333333"/>
                </a:solidFill>
              </a:rPr>
              <a:t> – Interactive web interface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42925" y="1766292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Session State</a:t>
            </a:r>
            <a:r>
              <a:rPr lang="en-US" sz="727" dirty="0">
                <a:solidFill>
                  <a:srgbClr val="333333"/>
                </a:solidFill>
              </a:rPr>
              <a:t> – Manages chat history and user inputs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42925" y="2166342"/>
            <a:ext cx="220010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Input Handlers</a:t>
            </a:r>
            <a:r>
              <a:rPr lang="en-US" sz="727" dirty="0">
                <a:solidFill>
                  <a:srgbClr val="333333"/>
                </a:solidFill>
              </a:rPr>
              <a:t> – Text, file upload, microphone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42925" y="2416373"/>
            <a:ext cx="230360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Chat Display</a:t>
            </a:r>
            <a:r>
              <a:rPr lang="en-US" sz="727" dirty="0">
                <a:solidFill>
                  <a:srgbClr val="333333"/>
                </a:solidFill>
              </a:rPr>
              <a:t> – Renders messages and responses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794992"/>
            <a:ext cx="2571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User Interactions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42925" y="2993231"/>
            <a:ext cx="14828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Text input area and chat history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42925" y="3243263"/>
            <a:ext cx="189934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File uploader for documents and images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286125" y="1051917"/>
            <a:ext cx="2571750" cy="32146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6B6B"/>
                </a:solidFill>
              </a:rPr>
              <a:t>Backend &amp; Core Logic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400425" y="1516261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Ollama LLM</a:t>
            </a:r>
            <a:r>
              <a:rPr lang="en-US" sz="727" dirty="0">
                <a:solidFill>
                  <a:srgbClr val="333333"/>
                </a:solidFill>
              </a:rPr>
              <a:t> – Local language model at localhost:11434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400425" y="1916311"/>
            <a:ext cx="1837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EasyOCR</a:t>
            </a:r>
            <a:r>
              <a:rPr lang="en-US" sz="727" dirty="0">
                <a:solidFill>
                  <a:srgbClr val="333333"/>
                </a:solidFill>
              </a:rPr>
              <a:t> – Text extraction from images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400425" y="2166342"/>
            <a:ext cx="1635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PyPDF</a:t>
            </a:r>
            <a:r>
              <a:rPr lang="en-US" sz="727" dirty="0">
                <a:solidFill>
                  <a:srgbClr val="333333"/>
                </a:solidFill>
              </a:rPr>
              <a:t> – PDF document processing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400425" y="2416373"/>
            <a:ext cx="19009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Python-DOCX</a:t>
            </a:r>
            <a:r>
              <a:rPr lang="en-US" sz="727" dirty="0">
                <a:solidFill>
                  <a:srgbClr val="333333"/>
                </a:solidFill>
              </a:rPr>
              <a:t> – Word document parsing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286125" y="2794992"/>
            <a:ext cx="2571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Processing Libraries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3400425" y="2993231"/>
            <a:ext cx="1745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PIL</a:t>
            </a:r>
            <a:r>
              <a:rPr lang="en-US" sz="727" dirty="0">
                <a:solidFill>
                  <a:srgbClr val="333333"/>
                </a:solidFill>
              </a:rPr>
              <a:t> – Image handling and conversion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3400425" y="3243263"/>
            <a:ext cx="21909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Speech Recognition</a:t>
            </a:r>
            <a:r>
              <a:rPr lang="en-US" sz="727" dirty="0">
                <a:solidFill>
                  <a:srgbClr val="333333"/>
                </a:solidFill>
              </a:rPr>
              <a:t> – Voice-to-text conversion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3400425" y="3493294"/>
            <a:ext cx="169412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Requests</a:t>
            </a:r>
            <a:r>
              <a:rPr lang="en-US" sz="727" dirty="0">
                <a:solidFill>
                  <a:srgbClr val="333333"/>
                </a:solidFill>
              </a:rPr>
              <a:t> – HTTP calls to Ollama API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143625" y="1051917"/>
            <a:ext cx="2571750" cy="32146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Integration Flow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6257925" y="1516261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1. Input Reception</a:t>
            </a:r>
            <a:r>
              <a:rPr lang="en-US" sz="727" dirty="0">
                <a:solidFill>
                  <a:srgbClr val="333333"/>
                </a:solidFill>
              </a:rPr>
              <a:t> – User provides text, file, or voice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257925" y="1916311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2. Processing</a:t>
            </a:r>
            <a:r>
              <a:rPr lang="en-US" sz="727" dirty="0">
                <a:solidFill>
                  <a:srgbClr val="333333"/>
                </a:solidFill>
              </a:rPr>
              <a:t> – Extract text using appropriate library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257925" y="2316361"/>
            <a:ext cx="21334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3. Context Building</a:t>
            </a:r>
            <a:r>
              <a:rPr lang="en-US" sz="727" dirty="0">
                <a:solidFill>
                  <a:srgbClr val="333333"/>
                </a:solidFill>
              </a:rPr>
              <a:t> – Add to message history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257925" y="2566392"/>
            <a:ext cx="16450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4. LLM Query</a:t>
            </a:r>
            <a:r>
              <a:rPr lang="en-US" sz="727" dirty="0">
                <a:solidFill>
                  <a:srgbClr val="333333"/>
                </a:solidFill>
              </a:rPr>
              <a:t> – Send to Ollama API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257925" y="2816423"/>
            <a:ext cx="1890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5. Response</a:t>
            </a:r>
            <a:r>
              <a:rPr lang="en-US" sz="727" dirty="0">
                <a:solidFill>
                  <a:srgbClr val="333333"/>
                </a:solidFill>
              </a:rPr>
              <a:t> – Receive and display result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143625" y="3195042"/>
            <a:ext cx="2571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Key Feature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6257925" y="3393281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All processing occurs locally – no external dependencies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F46E5"/>
                </a:solidFill>
              </a:rPr>
              <a:t>Conversational Flow with Local LLM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09042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Step-by-step process of user input through response generation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528763"/>
            <a:ext cx="500063" cy="50006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528763"/>
            <a:ext cx="5000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143000" y="1585913"/>
            <a:ext cx="7572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User Input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143000" y="1837730"/>
            <a:ext cx="7572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User types a query into the Streamlit text area and submits the message.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78656" y="1921669"/>
            <a:ext cx="14288" cy="428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207419"/>
            <a:ext cx="500063" cy="500063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207419"/>
            <a:ext cx="5000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2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1143000" y="2264569"/>
            <a:ext cx="7572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Message Append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143000" y="2516386"/>
            <a:ext cx="7572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user's message is added to the st.session_state.messages list for conversation history.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678656" y="2600325"/>
            <a:ext cx="14288" cy="428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886075"/>
            <a:ext cx="500063" cy="50006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2886075"/>
            <a:ext cx="5000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3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1143000" y="2943225"/>
            <a:ext cx="7572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API Call to Ollama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143000" y="3195042"/>
            <a:ext cx="7572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 requests.post call is made to the local Ollama API at http://localhost:11434/api/chat with the full message history as payload.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678656" y="3278981"/>
            <a:ext cx="14288" cy="428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3564731"/>
            <a:ext cx="500063" cy="500063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3564731"/>
            <a:ext cx="5000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4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1143000" y="3621881"/>
            <a:ext cx="7572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Response Generation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1143000" y="3873698"/>
            <a:ext cx="7572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local LLM (Llama 3.2) processes the request and generates an intelligent response based on the conversation context.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78656" y="3957638"/>
            <a:ext cx="14288" cy="428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4243388"/>
            <a:ext cx="500063" cy="50006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4243388"/>
            <a:ext cx="5000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5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1143000" y="4300538"/>
            <a:ext cx="7572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Display Output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1143000" y="4552355"/>
            <a:ext cx="7572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assistant's response is received, appended to the message history, and rendered in the chat interface for the user to see.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7188"/>
            <a:ext cx="9144000" cy="408980"/>
          </a:xfrm>
          <a:prstGeom prst="rect">
            <a:avLst/>
          </a:prstGeom>
          <a:noFill/>
          <a:ln/>
        </p:spPr>
        <p:txBody>
          <a:bodyPr wrap="none" lIns="510286" tIns="0" rIns="510286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F46E5"/>
                </a:solidFill>
              </a:rPr>
              <a:t>Extracting Text from Images and Documents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051917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05191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000125" y="1051917"/>
            <a:ext cx="7715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File Upload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000125" y="1303734"/>
            <a:ext cx="7715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User uploads an image (PNG, JPG) or document (PDF, DOCX) through the file uploader interface.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28625" y="1775222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77522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000125" y="1775222"/>
            <a:ext cx="7715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File Type Detection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000125" y="2027039"/>
            <a:ext cx="7715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</a:t>
            </a:r>
            <a:r>
              <a:rPr lang="en-US" sz="674" dirty="0">
                <a:solidFill>
                  <a:srgbClr val="4F46E5"/>
                </a:solidFill>
              </a:rPr>
              <a:t>extract_text_from_file()</a:t>
            </a:r>
            <a:r>
              <a:rPr lang="en-US" sz="780" dirty="0">
                <a:solidFill>
                  <a:srgbClr val="333333"/>
                </a:solidFill>
              </a:rPr>
              <a:t> function identifies the file type by checking the MIME type.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28625" y="2498527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249852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000125" y="2498527"/>
            <a:ext cx="7715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Image Processing with OCR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000125" y="2750344"/>
            <a:ext cx="7715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For images, </a:t>
            </a:r>
            <a:r>
              <a:rPr lang="en-US" sz="674" dirty="0">
                <a:solidFill>
                  <a:srgbClr val="4F46E5"/>
                </a:solidFill>
              </a:rPr>
              <a:t>PIL</a:t>
            </a:r>
            <a:r>
              <a:rPr lang="en-US" sz="780" dirty="0">
                <a:solidFill>
                  <a:srgbClr val="333333"/>
                </a:solidFill>
              </a:rPr>
              <a:t> opens the file and </a:t>
            </a:r>
            <a:r>
              <a:rPr lang="en-US" sz="674" dirty="0">
                <a:solidFill>
                  <a:srgbClr val="4F46E5"/>
                </a:solidFill>
              </a:rPr>
              <a:t>easyocr.Reader(['en'])</a:t>
            </a:r>
            <a:r>
              <a:rPr lang="en-US" sz="780" dirty="0">
                <a:solidFill>
                  <a:srgbClr val="333333"/>
                </a:solidFill>
              </a:rPr>
              <a:t> processes the image array to extract text using optical character recognition.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28625" y="3221831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322183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000125" y="3221831"/>
            <a:ext cx="7715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Document Processing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1000125" y="3473648"/>
            <a:ext cx="7715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For PDFs, </a:t>
            </a:r>
            <a:r>
              <a:rPr lang="en-US" sz="674" dirty="0">
                <a:solidFill>
                  <a:srgbClr val="4F46E5"/>
                </a:solidFill>
              </a:rPr>
              <a:t>pypdf.PdfReader</a:t>
            </a:r>
            <a:r>
              <a:rPr lang="en-US" sz="780" dirty="0">
                <a:solidFill>
                  <a:srgbClr val="333333"/>
                </a:solidFill>
              </a:rPr>
              <a:t> extracts text page by page. For DOCX files, </a:t>
            </a:r>
            <a:r>
              <a:rPr lang="en-US" sz="674" dirty="0">
                <a:solidFill>
                  <a:srgbClr val="4F46E5"/>
                </a:solidFill>
              </a:rPr>
              <a:t>docx.Document</a:t>
            </a:r>
            <a:r>
              <a:rPr lang="en-US" sz="780" dirty="0">
                <a:solidFill>
                  <a:srgbClr val="333333"/>
                </a:solidFill>
              </a:rPr>
              <a:t> extracts text paragraph by paragraph.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28625" y="3945136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394513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1000125" y="3945136"/>
            <a:ext cx="7715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LLM Context Integration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1000125" y="4196953"/>
            <a:ext cx="7715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extracted text is added to the chat history as a </a:t>
            </a:r>
            <a:r>
              <a:rPr lang="en-US" sz="734" b="1" dirty="0">
                <a:solidFill>
                  <a:srgbClr val="FF6B6B"/>
                </a:solidFill>
              </a:rPr>
              <a:t>user message</a:t>
            </a:r>
            <a:r>
              <a:rPr lang="en-US" sz="780" dirty="0">
                <a:solidFill>
                  <a:srgbClr val="333333"/>
                </a:solidFill>
              </a:rPr>
              <a:t>, providing context for the local LLM to process and generate intelligent responses.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7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50858" y="428625"/>
            <a:ext cx="524225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4F46E5"/>
                </a:solidFill>
              </a:rPr>
              <a:t>Voice-to-Text Integration Workflow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785938" y="1194792"/>
            <a:ext cx="428625" cy="428625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2"/>
          <p:cNvSpPr/>
          <p:nvPr/>
        </p:nvSpPr>
        <p:spPr>
          <a:xfrm>
            <a:off x="1785938" y="119479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428875" y="1202829"/>
            <a:ext cx="4929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Microphone Activation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428875" y="1454646"/>
            <a:ext cx="4929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User clicks the microphone button, setting st.session_state.mic_active to True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1785938" y="1711821"/>
            <a:ext cx="428625" cy="42862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1785938" y="1711821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428875" y="1623417"/>
            <a:ext cx="4929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Listening Mode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428875" y="1875234"/>
            <a:ext cx="4929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capture_voice_input() function activates the microphone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428875" y="2078831"/>
            <a:ext cx="4929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Uses speech_recognition.Microphone() to capture audio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1785938" y="2317254"/>
            <a:ext cx="428625" cy="428625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1"/>
          <p:cNvSpPr/>
          <p:nvPr/>
        </p:nvSpPr>
        <p:spPr>
          <a:xfrm>
            <a:off x="1785938" y="2317254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2428875" y="2228850"/>
            <a:ext cx="4929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Voice Recognition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428875" y="2480667"/>
            <a:ext cx="4929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Recorded audio is sent to Google's Speech Recognition service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2428875" y="2684264"/>
            <a:ext cx="4929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Uses recognizer.recognize_google() for transcription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1785938" y="2922687"/>
            <a:ext cx="428625" cy="42862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6"/>
          <p:cNvSpPr/>
          <p:nvPr/>
        </p:nvSpPr>
        <p:spPr>
          <a:xfrm>
            <a:off x="1785938" y="2922687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2428875" y="2834283"/>
            <a:ext cx="4929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Text Conversion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2428875" y="3086100"/>
            <a:ext cx="4929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Spoken words are converted into a text string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2428875" y="3289697"/>
            <a:ext cx="4929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Error handling for unrecognized speech or network issues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1785938" y="3528120"/>
            <a:ext cx="428625" cy="428625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1785938" y="3528120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2428875" y="3439716"/>
            <a:ext cx="4929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Query Submission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2428875" y="3691533"/>
            <a:ext cx="4929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Transcribed text is used as user_input in the main chat loop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2428875" y="3895130"/>
            <a:ext cx="4929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Follows the same workflow as text-based search with Ollama LLM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687" y="139037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Live Demo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05439" y="539113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Showcasing Multi-Modal Capabilities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113409" y="4751050"/>
            <a:ext cx="9143999" cy="2412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073" y="4069494"/>
            <a:ext cx="9143999" cy="14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Text 4"/>
          <p:cNvSpPr/>
          <p:nvPr/>
        </p:nvSpPr>
        <p:spPr>
          <a:xfrm>
            <a:off x="43289" y="4785174"/>
            <a:ext cx="8679098" cy="206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4F46E5"/>
                </a:solidFill>
              </a:rPr>
              <a:t>CodeGenie successfully integrates multiple input modalities with a powerful, privacy-focused local LLM architecture.</a:t>
            </a:r>
            <a:endParaRPr lang="en-US" sz="987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7B45C2-FD1D-9CE8-1A3D-3D84901F4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11" y="744205"/>
            <a:ext cx="7808068" cy="39006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714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Karri</cp:lastModifiedBy>
  <cp:revision>3</cp:revision>
  <dcterms:created xsi:type="dcterms:W3CDTF">2025-12-11T11:37:56Z</dcterms:created>
  <dcterms:modified xsi:type="dcterms:W3CDTF">2025-12-11T12:06:05Z</dcterms:modified>
</cp:coreProperties>
</file>